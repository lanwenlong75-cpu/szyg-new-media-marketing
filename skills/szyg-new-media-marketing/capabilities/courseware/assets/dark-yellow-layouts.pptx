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封面：讲清本次课程要解决的一个具体问题，替换示意文字。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现场提问后留停顿。答案、常见误区和过渡写在讲师备注。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逐项解释每个节点和交接条件。箭头表达实际先后，不凭图形制造因果。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替换下方插槽为真实截图。放大关键数字或状态，保留来源。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要求学员选择自己的真实任务，记录输入、交付和检查。答案按任务事实判断。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收口：回顾今日判断，布置可执行的下一步；不要把示例效果当作课程承诺。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822960"/>
            <a:ext cx="109728" cy="5303520"/>
          </a:xfrm>
          <a:prstGeom prst="rect">
            <a:avLst/>
          </a:prstGeom>
          <a:solidFill>
            <a:srgbClr val="F9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25880"/>
            <a:ext cx="9784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600" b="1">
                <a:solidFill>
                  <a:srgbClr val="F4F2EC"/>
                </a:solidFill>
                <a:latin typeface="Noto Sans CJK SC"/>
              </a:defRPr>
            </a:pPr>
            <a:r>
              <a:t>看清问题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784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600" b="1">
                <a:solidFill>
                  <a:srgbClr val="F9BE4E"/>
                </a:solidFill>
                <a:latin typeface="Noto Sans CJK SC"/>
              </a:defRPr>
            </a:pPr>
            <a:r>
              <a:t>再作判断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1206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0">
                <a:solidFill>
                  <a:srgbClr val="A7ABAF"/>
                </a:solidFill>
                <a:latin typeface="Noto Sans CJK SC"/>
              </a:defRPr>
            </a:pPr>
            <a:r>
              <a:t>课程主题 / 授课对象 / 本期日期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000" b="1">
                <a:solidFill>
                  <a:srgbClr val="F4F2EC"/>
                </a:solidFill>
                <a:latin typeface="Noto Sans CJK SC"/>
              </a:defRPr>
            </a:pPr>
            <a:r>
              <a:t>先问一个具体问题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5156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200" b="1">
                <a:solidFill>
                  <a:srgbClr val="F9BE4E"/>
                </a:solidFill>
                <a:latin typeface="Noto Sans CJK SC"/>
              </a:defRPr>
            </a:pPr>
            <a:r>
              <a:t>为什么做了很多，</a:t>
            </a:r>
            <a:br/>
            <a:r>
              <a:t>结果仍要返工？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0">
                <a:solidFill>
                  <a:srgbClr val="A7ABAF"/>
                </a:solidFill>
                <a:latin typeface="Noto Sans CJK SC"/>
              </a:defRPr>
            </a:pPr>
            <a:r>
              <a:t>先写下你遇到的一个真实场景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000" b="1">
                <a:solidFill>
                  <a:srgbClr val="F4F2EC"/>
                </a:solidFill>
                <a:latin typeface="Noto Sans CJK SC"/>
              </a:defRPr>
            </a:pPr>
            <a:r>
              <a:t>从输入走到验收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20240"/>
            <a:ext cx="2423160" cy="2011680"/>
          </a:xfrm>
          <a:prstGeom prst="roundRect">
            <a:avLst/>
          </a:prstGeom>
          <a:solidFill>
            <a:srgbClr val="22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F9BE4E"/>
                </a:solidFill>
                <a:latin typeface="Noto Sans CJK SC"/>
              </a:defRPr>
            </a:pPr>
            <a:r>
              <a:t>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F4F2EC"/>
                </a:solidFill>
                <a:latin typeface="Noto Sans CJK SC"/>
              </a:defRPr>
            </a:pPr>
            <a:r>
              <a:t>真实资料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51460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F9BE4E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8728" y="1920240"/>
            <a:ext cx="2423160" cy="2011680"/>
          </a:xfrm>
          <a:prstGeom prst="roundRect">
            <a:avLst/>
          </a:prstGeom>
          <a:solidFill>
            <a:srgbClr val="22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7328" y="23317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F9BE4E"/>
                </a:solidFill>
                <a:latin typeface="Noto Sans CJK SC"/>
              </a:defRPr>
            </a:pPr>
            <a:r>
              <a:t>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30632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F4F2EC"/>
                </a:solidFill>
                <a:latin typeface="Noto Sans CJK SC"/>
              </a:defRPr>
            </a:pPr>
            <a:r>
              <a:t>目标与约束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7608" y="251460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F9BE4E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1920240"/>
            <a:ext cx="2423160" cy="2011680"/>
          </a:xfrm>
          <a:prstGeom prst="roundRect">
            <a:avLst/>
          </a:prstGeom>
          <a:solidFill>
            <a:srgbClr val="22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23317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F9BE4E"/>
                </a:solidFill>
                <a:latin typeface="Noto Sans CJK SC"/>
              </a:defRPr>
            </a:pPr>
            <a:r>
              <a:t>制作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30632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F4F2EC"/>
                </a:solidFill>
                <a:latin typeface="Noto Sans CJK SC"/>
              </a:defRPr>
            </a:pPr>
            <a:r>
              <a:t>可见产物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51460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F9BE4E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6024" y="1920240"/>
            <a:ext cx="2423160" cy="2011680"/>
          </a:xfrm>
          <a:prstGeom prst="roundRect">
            <a:avLst/>
          </a:prstGeom>
          <a:solidFill>
            <a:srgbClr val="22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64624" y="23317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200" b="1">
                <a:solidFill>
                  <a:srgbClr val="F9BE4E"/>
                </a:solidFill>
                <a:latin typeface="Noto Sans CJK SC"/>
              </a:defRPr>
            </a:pPr>
            <a:r>
              <a:t>验收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4624" y="30632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F4F2EC"/>
                </a:solidFill>
                <a:latin typeface="Noto Sans CJK SC"/>
              </a:defRPr>
            </a:pPr>
            <a:r>
              <a:t>回读结果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0">
                <a:solidFill>
                  <a:srgbClr val="A7ABAF"/>
                </a:solidFill>
                <a:latin typeface="Noto Sans CJK SC"/>
              </a:defRPr>
            </a:pPr>
            <a:r>
              <a:t>每一步都写明：谁提供、谁判断、如何确认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000" b="1">
                <a:solidFill>
                  <a:srgbClr val="F4F2EC"/>
                </a:solidFill>
                <a:latin typeface="Noto Sans CJK SC"/>
              </a:defRPr>
            </a:pPr>
            <a:r>
              <a:t>让证据成为画面中心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7315200" cy="4251960"/>
          </a:xfrm>
          <a:prstGeom prst="roundRect">
            <a:avLst/>
          </a:prstGeom>
          <a:solidFill>
            <a:srgbClr val="22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1783080"/>
            <a:ext cx="6766560" cy="3703320"/>
          </a:xfrm>
          <a:prstGeom prst="roundRect">
            <a:avLst/>
          </a:prstGeom>
          <a:solidFill>
            <a:srgbClr val="303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88036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4F2EC"/>
                </a:solidFill>
                <a:latin typeface="Noto Sans CJK SC"/>
              </a:defRPr>
            </a:pPr>
            <a:r>
              <a:t>在此放入真实截图</a:t>
            </a:r>
            <a:br/>
            <a:r>
              <a:t>放大需要看清的部分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246888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9BE4E"/>
                </a:solidFill>
                <a:latin typeface="Noto Sans CJK SC"/>
              </a:defRPr>
            </a:pPr>
            <a:r>
              <a:t>说明：来源、时间、结论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000" b="1">
                <a:solidFill>
                  <a:srgbClr val="F4F2EC"/>
                </a:solidFill>
                <a:latin typeface="Noto Sans CJK SC"/>
              </a:defRPr>
            </a:pPr>
            <a:r>
              <a:t>现场作业：试做一轮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8" y="1417320"/>
            <a:ext cx="10607040" cy="1097280"/>
          </a:xfrm>
          <a:prstGeom prst="roundRect">
            <a:avLst/>
          </a:prstGeom>
          <a:solidFill>
            <a:srgbClr val="22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9BE4E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591056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4F2EC"/>
                </a:solidFill>
                <a:latin typeface="Noto Sans CJK SC"/>
              </a:defRPr>
            </a:pPr>
            <a:r>
              <a:t>选一件真实任务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834640"/>
            <a:ext cx="10607040" cy="1097280"/>
          </a:xfrm>
          <a:prstGeom prst="roundRect">
            <a:avLst/>
          </a:prstGeom>
          <a:solidFill>
            <a:srgbClr val="22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9BE4E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008376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4F2EC"/>
                </a:solidFill>
                <a:latin typeface="Noto Sans CJK SC"/>
              </a:defRPr>
            </a:pPr>
            <a:r>
              <a:t>写下可用输入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251960"/>
            <a:ext cx="10607040" cy="1097280"/>
          </a:xfrm>
          <a:prstGeom prst="roundRect">
            <a:avLst/>
          </a:prstGeom>
          <a:solidFill>
            <a:srgbClr val="22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9BE4E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425696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4F2EC"/>
                </a:solidFill>
                <a:latin typeface="Noto Sans CJK SC"/>
              </a:defRPr>
            </a:pPr>
            <a:r>
              <a:t>定义完成信号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0876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400" b="1">
                <a:solidFill>
                  <a:srgbClr val="F9BE4E"/>
                </a:solidFill>
                <a:latin typeface="Noto Sans CJK SC"/>
              </a:defRPr>
            </a:pPr>
            <a: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400" b="1">
                <a:solidFill>
                  <a:srgbClr val="F4F2EC"/>
                </a:solidFill>
                <a:latin typeface="Noto Sans CJK SC"/>
              </a:defRPr>
            </a:pPr>
            <a:r>
              <a:t>用真实资料</a:t>
            </a:r>
            <a:br/>
            <a:r>
              <a:t>试一轮，再回读结果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